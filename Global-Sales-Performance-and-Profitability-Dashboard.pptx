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Sora Light" panose="020B0604020202020204" charset="0"/>
      <p:regular r:id="rId13"/>
    </p:embeddedFont>
    <p:embeddedFont>
      <p:font typeface="Sora Semi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12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34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599902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Global Sales Performance &amp; Profitability Dashboard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2693863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Sales Analytics, Profitability Monitoring &amp; Business Intelligence Reporting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2943" y="3284339"/>
            <a:ext cx="662657" cy="254422"/>
          </a:xfrm>
          <a:prstGeom prst="roundRect">
            <a:avLst>
              <a:gd name="adj" fmla="val 17883"/>
            </a:avLst>
          </a:prstGeom>
          <a:solidFill>
            <a:srgbClr val="F9D2D6"/>
          </a:solidFill>
          <a:ln/>
        </p:spPr>
      </p:sp>
      <p:sp>
        <p:nvSpPr>
          <p:cNvPr id="6" name="Text 3"/>
          <p:cNvSpPr/>
          <p:nvPr/>
        </p:nvSpPr>
        <p:spPr>
          <a:xfrm>
            <a:off x="3984129" y="3324895"/>
            <a:ext cx="957486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TABLEAU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33243" y="3279577"/>
            <a:ext cx="518740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19191" y="3324895"/>
            <a:ext cx="804044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219626" y="3279577"/>
            <a:ext cx="1403970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5574" y="3324895"/>
            <a:ext cx="1689274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BUSINESS ANALYTICS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8444" y="355550"/>
            <a:ext cx="3686621" cy="403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Overview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858444" y="926009"/>
            <a:ext cx="4856113" cy="5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interactive Tableau dashboard was built to give management teams a real-time, visual window into global business performance — transforming raw data into actionable intelligence.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58444" y="1612329"/>
            <a:ext cx="4856113" cy="710505"/>
          </a:xfrm>
          <a:prstGeom prst="roundRect">
            <a:avLst>
              <a:gd name="adj" fmla="val 7254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85915" y="1739801"/>
            <a:ext cx="16147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🌍</a:t>
            </a: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Global Sales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85915" y="2008287"/>
            <a:ext cx="4601170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revenue across all regions and countries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58444" y="2434010"/>
            <a:ext cx="4856113" cy="710505"/>
          </a:xfrm>
          <a:prstGeom prst="roundRect">
            <a:avLst>
              <a:gd name="adj" fmla="val 7254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85915" y="2561481"/>
            <a:ext cx="16147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💰</a:t>
            </a: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Profitability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85915" y="2829967"/>
            <a:ext cx="4601170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margins by category, segment, and region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58444" y="3255690"/>
            <a:ext cx="4856113" cy="710505"/>
          </a:xfrm>
          <a:prstGeom prst="roundRect">
            <a:avLst>
              <a:gd name="adj" fmla="val 7254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85915" y="3383161"/>
            <a:ext cx="182783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👥</a:t>
            </a: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Customer Behavior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985915" y="3651647"/>
            <a:ext cx="4601170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Analyze buying patterns and segment performance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58444" y="4077370"/>
            <a:ext cx="4856113" cy="710505"/>
          </a:xfrm>
          <a:prstGeom prst="roundRect">
            <a:avLst>
              <a:gd name="adj" fmla="val 7254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85915" y="4204841"/>
            <a:ext cx="161471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📈</a:t>
            </a:r>
            <a:r>
              <a:rPr lang="en-US" sz="12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Monthly Trends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85915" y="4473327"/>
            <a:ext cx="4601170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growth patterns and seasonal fluctuations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02" y="390302"/>
            <a:ext cx="6037436" cy="4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Business Problem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66502" y="1156692"/>
            <a:ext cx="22110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66502" y="1507108"/>
            <a:ext cx="3942904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Global companies struggle to maintain visibility across distributed operations. Without unified analytics, leadership faces blind spots in sales tracking, margin monitoring, and product performance.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502" y="2471365"/>
            <a:ext cx="3942904" cy="93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Sales scattered across regions with no consolidated view</a:t>
            </a:r>
            <a:endParaRPr lang="en-US" sz="100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Profitability difficult to track at the category level</a:t>
            </a:r>
            <a:endParaRPr lang="en-US" sz="100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Operational inefficiencies hidden in siloed 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39357" y="1156692"/>
            <a:ext cx="22110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Project Objectives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9363" y="1530176"/>
            <a:ext cx="199876" cy="1998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2521" y="1523479"/>
            <a:ext cx="3509739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Analyze global sales trends over time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9363" y="2199084"/>
            <a:ext cx="199876" cy="1998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72521" y="2192387"/>
            <a:ext cx="3509739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and improve profit margins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9363" y="2867992"/>
            <a:ext cx="199876" cy="1998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72521" y="2861295"/>
            <a:ext cx="3509739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the most profitable regions and products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9363" y="3536900"/>
            <a:ext cx="199876" cy="1998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72521" y="3530203"/>
            <a:ext cx="3509739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customer segment performance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9363" y="4205808"/>
            <a:ext cx="199876" cy="1998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72521" y="4199111"/>
            <a:ext cx="3509739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strategic, data-driven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02035"/>
            <a:ext cx="4290268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Dataset &amp; Tools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585913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Dataset Fields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1943919"/>
            <a:ext cx="393285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dataset captures the full order lifecycle, enabling deep-dive analysis across every dimension of the business.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943" y="2715816"/>
            <a:ext cx="3932858" cy="1272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Order ID, Region &amp; Country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Product Category &amp; Customer Segment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Sales Amount, Cost &amp; Profit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Quantity Sold &amp; Discount %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Shipping Cost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962" y="1585913"/>
            <a:ext cx="238355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Tools &amp; Technologies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41962" y="1960885"/>
            <a:ext cx="3932858" cy="2228255"/>
          </a:xfrm>
          <a:prstGeom prst="roundRect">
            <a:avLst>
              <a:gd name="adj" fmla="val 25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82158" y="2051596"/>
            <a:ext cx="21457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Tool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46168" y="2051596"/>
            <a:ext cx="21457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Purpose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82158" y="2444948"/>
            <a:ext cx="21457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Tableau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46168" y="2444948"/>
            <a:ext cx="168852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Dashboard development &amp; visualization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82158" y="3054995"/>
            <a:ext cx="21457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46168" y="3054995"/>
            <a:ext cx="168852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Dataset preparation &amp; cleaning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82158" y="3665041"/>
            <a:ext cx="21457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GitHub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46168" y="3665041"/>
            <a:ext cx="168852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Portfolio hosting &amp; version control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076" y="345356"/>
            <a:ext cx="4454575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KPIs &amp; Calculated Fields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30076" y="858589"/>
            <a:ext cx="8140973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dashboard tracks six core KPIs that give leadership an at-a-glance view of business health.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30076" y="1102296"/>
            <a:ext cx="3800549" cy="794965"/>
          </a:xfrm>
          <a:prstGeom prst="roundRect">
            <a:avLst>
              <a:gd name="adj" fmla="val 558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0581" y="1212800"/>
            <a:ext cx="317376" cy="317376"/>
          </a:xfrm>
          <a:prstGeom prst="roundRect">
            <a:avLst>
              <a:gd name="adj" fmla="val 18005232"/>
            </a:avLst>
          </a:prstGeom>
          <a:solidFill>
            <a:srgbClr val="DA1B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869" y="1300088"/>
            <a:ext cx="142801" cy="1428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0581" y="1612776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13225" y="1102296"/>
            <a:ext cx="3800624" cy="794965"/>
          </a:xfrm>
          <a:prstGeom prst="roundRect">
            <a:avLst>
              <a:gd name="adj" fmla="val 558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23730" y="1212800"/>
            <a:ext cx="317376" cy="317376"/>
          </a:xfrm>
          <a:prstGeom prst="roundRect">
            <a:avLst>
              <a:gd name="adj" fmla="val 18005232"/>
            </a:avLst>
          </a:prstGeom>
          <a:solidFill>
            <a:srgbClr val="DA1B2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1018" y="1300088"/>
            <a:ext cx="142801" cy="1428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23730" y="1612776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0076" y="1979861"/>
            <a:ext cx="3800549" cy="794965"/>
          </a:xfrm>
          <a:prstGeom prst="roundRect">
            <a:avLst>
              <a:gd name="adj" fmla="val 558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0581" y="2090365"/>
            <a:ext cx="317376" cy="317376"/>
          </a:xfrm>
          <a:prstGeom prst="roundRect">
            <a:avLst>
              <a:gd name="adj" fmla="val 18005232"/>
            </a:avLst>
          </a:prstGeom>
          <a:solidFill>
            <a:srgbClr val="DA1B2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869" y="2177653"/>
            <a:ext cx="142801" cy="1428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0581" y="2490341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Profit Margin %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13225" y="1979861"/>
            <a:ext cx="3800624" cy="794965"/>
          </a:xfrm>
          <a:prstGeom prst="roundRect">
            <a:avLst>
              <a:gd name="adj" fmla="val 558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23730" y="2090365"/>
            <a:ext cx="317376" cy="317376"/>
          </a:xfrm>
          <a:prstGeom prst="roundRect">
            <a:avLst>
              <a:gd name="adj" fmla="val 18005232"/>
            </a:avLst>
          </a:prstGeom>
          <a:solidFill>
            <a:srgbClr val="DA1B2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1018" y="2177653"/>
            <a:ext cx="142801" cy="1428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23730" y="2490341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Quantity Sold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30076" y="2857426"/>
            <a:ext cx="3800549" cy="794965"/>
          </a:xfrm>
          <a:prstGeom prst="roundRect">
            <a:avLst>
              <a:gd name="adj" fmla="val 558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40581" y="2967930"/>
            <a:ext cx="317376" cy="317376"/>
          </a:xfrm>
          <a:prstGeom prst="roundRect">
            <a:avLst>
              <a:gd name="adj" fmla="val 18005232"/>
            </a:avLst>
          </a:prstGeom>
          <a:solidFill>
            <a:srgbClr val="DA1B2E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869" y="3055218"/>
            <a:ext cx="142801" cy="1428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0581" y="3367906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613225" y="2857426"/>
            <a:ext cx="3800624" cy="794965"/>
          </a:xfrm>
          <a:prstGeom prst="roundRect">
            <a:avLst>
              <a:gd name="adj" fmla="val 558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723730" y="2967930"/>
            <a:ext cx="317376" cy="317376"/>
          </a:xfrm>
          <a:prstGeom prst="roundRect">
            <a:avLst>
              <a:gd name="adj" fmla="val 18005232"/>
            </a:avLst>
          </a:prstGeom>
          <a:solidFill>
            <a:srgbClr val="DA1B2E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1018" y="3055218"/>
            <a:ext cx="142801" cy="14280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723730" y="3367906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Delivery %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730076" y="3838277"/>
            <a:ext cx="3712815" cy="386953"/>
          </a:xfrm>
          <a:prstGeom prst="roundRect">
            <a:avLst>
              <a:gd name="adj" fmla="val 11483"/>
            </a:avLst>
          </a:prstGeom>
          <a:solidFill>
            <a:srgbClr val="B6D6FC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819" y="3987403"/>
            <a:ext cx="132234" cy="10574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73795" y="3947294"/>
            <a:ext cx="3720554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Profit</a:t>
            </a:r>
            <a:r>
              <a:rPr lang="en-US" sz="8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= Sales Amount − Cost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730076" y="4318174"/>
            <a:ext cx="3712815" cy="386953"/>
          </a:xfrm>
          <a:prstGeom prst="roundRect">
            <a:avLst>
              <a:gd name="adj" fmla="val 11483"/>
            </a:avLst>
          </a:prstGeom>
          <a:solidFill>
            <a:srgbClr val="B6D6FC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819" y="4467299"/>
            <a:ext cx="132234" cy="10574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073795" y="4427190"/>
            <a:ext cx="3720554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Profit Margin %</a:t>
            </a:r>
            <a:r>
              <a:rPr lang="en-US" sz="8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= (Profit ÷ Sales) × 100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4705722" y="3838277"/>
            <a:ext cx="3712815" cy="386953"/>
          </a:xfrm>
          <a:prstGeom prst="roundRect">
            <a:avLst>
              <a:gd name="adj" fmla="val 11483"/>
            </a:avLst>
          </a:prstGeom>
          <a:solidFill>
            <a:srgbClr val="B6D6FC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1464" y="3987403"/>
            <a:ext cx="132234" cy="10574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049441" y="3947294"/>
            <a:ext cx="3720554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Order Value</a:t>
            </a:r>
            <a:r>
              <a:rPr lang="en-US" sz="8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= Total Sales ÷ Total Orders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14337"/>
            <a:ext cx="5097959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Dashboard Visualizations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1062856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Eight visualization types work together to tell a complete story — from high-level KPIs to granular transactional detail.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1648569"/>
            <a:ext cx="270793" cy="2707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42954" y="169507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Sales by Region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342954" y="1998911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Column chart comparing revenue across global markets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943" y="2486397"/>
            <a:ext cx="270793" cy="2707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42954" y="2532906"/>
            <a:ext cx="184442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Monthly Sales Trend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342954" y="2836738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Line chart revealing growth patterns and seasonality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2943" y="3324225"/>
            <a:ext cx="270793" cy="2707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42954" y="3370734"/>
            <a:ext cx="204995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Geographic Sales Map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342954" y="3674566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Visual map of sales distribution by country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2943" y="4162053"/>
            <a:ext cx="270793" cy="27079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42954" y="4208562"/>
            <a:ext cx="203604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Sales vs. Profit Scatter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342954" y="4512394"/>
            <a:ext cx="43271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Identifies high-value, high-margin product combinations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326" y="377205"/>
            <a:ext cx="5151537" cy="41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Dashboard Layout &amp;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44326" y="1092250"/>
            <a:ext cx="212757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Layout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4326" y="1434926"/>
            <a:ext cx="1926878" cy="1003771"/>
          </a:xfrm>
          <a:prstGeom prst="roundRect">
            <a:avLst>
              <a:gd name="adj" fmla="val 6832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0039" y="1434926"/>
            <a:ext cx="57150" cy="1003771"/>
          </a:xfrm>
          <a:prstGeom prst="roundRect">
            <a:avLst>
              <a:gd name="adj" fmla="val 93297"/>
            </a:avLst>
          </a:prstGeom>
          <a:solidFill>
            <a:srgbClr val="DA1B2E"/>
          </a:solidFill>
          <a:ln/>
        </p:spPr>
      </p:sp>
      <p:sp>
        <p:nvSpPr>
          <p:cNvPr id="6" name="Text 4"/>
          <p:cNvSpPr/>
          <p:nvPr/>
        </p:nvSpPr>
        <p:spPr>
          <a:xfrm>
            <a:off x="628427" y="1576164"/>
            <a:ext cx="160153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Top Section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8427" y="1903958"/>
            <a:ext cx="1601539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KPI cards for instant performance snapshot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90192" y="1434926"/>
            <a:ext cx="1926952" cy="1003771"/>
          </a:xfrm>
          <a:prstGeom prst="roundRect">
            <a:avLst>
              <a:gd name="adj" fmla="val 6832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75905" y="1434926"/>
            <a:ext cx="57150" cy="1003771"/>
          </a:xfrm>
          <a:prstGeom prst="roundRect">
            <a:avLst>
              <a:gd name="adj" fmla="val 93297"/>
            </a:avLst>
          </a:prstGeom>
          <a:solidFill>
            <a:srgbClr val="DA1B2E"/>
          </a:solidFill>
          <a:ln/>
        </p:spPr>
      </p:sp>
      <p:sp>
        <p:nvSpPr>
          <p:cNvPr id="10" name="Text 8"/>
          <p:cNvSpPr/>
          <p:nvPr/>
        </p:nvSpPr>
        <p:spPr>
          <a:xfrm>
            <a:off x="2674293" y="1576164"/>
            <a:ext cx="1601614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Middle Section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4293" y="1903958"/>
            <a:ext cx="1601614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Charts &amp; trend analysis for deeper exploration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4326" y="2557686"/>
            <a:ext cx="1926878" cy="1200522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039" y="2557686"/>
            <a:ext cx="57150" cy="1200522"/>
          </a:xfrm>
          <a:prstGeom prst="roundRect">
            <a:avLst>
              <a:gd name="adj" fmla="val 93297"/>
            </a:avLst>
          </a:prstGeom>
          <a:solidFill>
            <a:srgbClr val="DA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28427" y="2698924"/>
            <a:ext cx="160153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Bottom Section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427" y="3026718"/>
            <a:ext cx="1601539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Detailed sales table &amp; business insights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90192" y="2557686"/>
            <a:ext cx="1926952" cy="1200522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75905" y="2557686"/>
            <a:ext cx="57150" cy="1200522"/>
          </a:xfrm>
          <a:prstGeom prst="roundRect">
            <a:avLst>
              <a:gd name="adj" fmla="val 93297"/>
            </a:avLst>
          </a:prstGeom>
          <a:solidFill>
            <a:srgbClr val="DA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2674293" y="2698924"/>
            <a:ext cx="1601614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Right Side Panel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74293" y="3026718"/>
            <a:ext cx="1601614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Interactive filters: Region, Country, Category, Segment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31618" y="1092250"/>
            <a:ext cx="212757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Design Theme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1618" y="1420044"/>
            <a:ext cx="3972818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clean, recruiter-friendly layout uses color strategically to signal performance at a glance.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4326" y="4025950"/>
            <a:ext cx="2672432" cy="740346"/>
          </a:xfrm>
          <a:prstGeom prst="roundRect">
            <a:avLst>
              <a:gd name="adj" fmla="val 7202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39" y="4157662"/>
            <a:ext cx="167037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🔵</a:t>
            </a: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Corporate Blue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39" y="4437831"/>
            <a:ext cx="2409006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Primary brand color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35747" y="4025950"/>
            <a:ext cx="2672432" cy="740346"/>
          </a:xfrm>
          <a:prstGeom prst="roundRect">
            <a:avLst>
              <a:gd name="adj" fmla="val 7202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7460" y="4157662"/>
            <a:ext cx="167037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🟢</a:t>
            </a: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Green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67460" y="4437831"/>
            <a:ext cx="2409006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Profit indicators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27167" y="4025950"/>
            <a:ext cx="2672507" cy="740346"/>
          </a:xfrm>
          <a:prstGeom prst="roundRect">
            <a:avLst>
              <a:gd name="adj" fmla="val 7202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8880" y="4157662"/>
            <a:ext cx="167037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🔴</a:t>
            </a:r>
            <a:r>
              <a:rPr lang="en-US" sz="1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Red / Orange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58880" y="4437831"/>
            <a:ext cx="2409081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Loss warnings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66105"/>
            <a:ext cx="4391769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582341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dashboard surfaces clear, actionable findings across three critical dimensions of the business.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951360"/>
            <a:ext cx="1519089" cy="938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305938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Regional Insights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3943" y="3363218"/>
            <a:ext cx="2619226" cy="91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North America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generated the highest total sales volume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Asia-Pacific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demonstrated the strongest growth trajectory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87" y="1951360"/>
            <a:ext cx="1519089" cy="9388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2387" y="305938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 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262387" y="3363218"/>
            <a:ext cx="2619226" cy="91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Technology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category delivered the highest profit margins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Furniture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category showed consistently lower margins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831" y="1951360"/>
            <a:ext cx="1519089" cy="9388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0831" y="305938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Insights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050831" y="3363218"/>
            <a:ext cx="2619226" cy="91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Corporate customers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placed higher-value orders on average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Heavy </a:t>
            </a: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discounting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eroded overall profitability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746" y="348853"/>
            <a:ext cx="5513263" cy="37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Skills Gained &amp; Career Relevance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2746" y="965671"/>
            <a:ext cx="2515270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Technical Skills Developed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22746" y="1261988"/>
            <a:ext cx="228451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22746" y="1441847"/>
            <a:ext cx="4009876" cy="14288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6" name="Text 4"/>
          <p:cNvSpPr/>
          <p:nvPr/>
        </p:nvSpPr>
        <p:spPr>
          <a:xfrm>
            <a:off x="422746" y="1527497"/>
            <a:ext cx="400987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Tableau Dashboard Development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22746" y="1877988"/>
            <a:ext cx="228451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2746" y="2057846"/>
            <a:ext cx="4009876" cy="14288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422746" y="2143497"/>
            <a:ext cx="400987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KPI Design &amp; Monitoring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2746" y="2493987"/>
            <a:ext cx="228451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2746" y="2673846"/>
            <a:ext cx="4009876" cy="14288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422746" y="2759497"/>
            <a:ext cx="400987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Advanced Data Visualization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2746" y="3109987"/>
            <a:ext cx="228451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2746" y="3289846"/>
            <a:ext cx="4009876" cy="14288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422746" y="3375496"/>
            <a:ext cx="400987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Business Analytics &amp; Reporting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16140" y="965671"/>
            <a:ext cx="196051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Career Relevance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16140" y="1249933"/>
            <a:ext cx="4009876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directly supports candidacy for analytics and business intelligence roles across industries.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2746" y="3846463"/>
            <a:ext cx="2002334" cy="425872"/>
          </a:xfrm>
          <a:prstGeom prst="roundRect">
            <a:avLst>
              <a:gd name="adj" fmla="val 1126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734" y="3965451"/>
            <a:ext cx="150331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Business Analyst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21446" y="3846463"/>
            <a:ext cx="2002334" cy="425872"/>
          </a:xfrm>
          <a:prstGeom prst="roundRect">
            <a:avLst>
              <a:gd name="adj" fmla="val 1126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0434" y="3965451"/>
            <a:ext cx="150331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 Analyst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20146" y="3846463"/>
            <a:ext cx="2002334" cy="425872"/>
          </a:xfrm>
          <a:prstGeom prst="roundRect">
            <a:avLst>
              <a:gd name="adj" fmla="val 1126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9134" y="3965451"/>
            <a:ext cx="150331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Sales Analyst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18846" y="3846463"/>
            <a:ext cx="2002408" cy="425872"/>
          </a:xfrm>
          <a:prstGeom prst="roundRect">
            <a:avLst>
              <a:gd name="adj" fmla="val 1126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7834" y="3965451"/>
            <a:ext cx="150331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BI Developer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2746" y="4368701"/>
            <a:ext cx="8298507" cy="425872"/>
          </a:xfrm>
          <a:prstGeom prst="roundRect">
            <a:avLst>
              <a:gd name="adj" fmla="val 11268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734" y="4487689"/>
            <a:ext cx="150331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Analyst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9827" y="357560"/>
            <a:ext cx="3463900" cy="37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Conclusion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9827" y="878012"/>
            <a:ext cx="491534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8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Global Sales Performance &amp; Profitability Dashboard</a:t>
            </a: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demonstrates end-to-end analytical capability — from data preparation to interactive visualization and strategic insight delivery.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9827" y="1491853"/>
            <a:ext cx="4915346" cy="2580084"/>
          </a:xfrm>
          <a:prstGeom prst="roundRect">
            <a:avLst>
              <a:gd name="adj" fmla="val 1860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4589" y="1496616"/>
            <a:ext cx="4905821" cy="642640"/>
          </a:xfrm>
          <a:prstGeom prst="roundRect">
            <a:avLst>
              <a:gd name="adj" fmla="val 7467"/>
            </a:avLst>
          </a:prstGeom>
          <a:solidFill>
            <a:srgbClr val="F9D2D6"/>
          </a:solidFill>
          <a:ln/>
        </p:spPr>
      </p:sp>
      <p:sp>
        <p:nvSpPr>
          <p:cNvPr id="7" name="Text 4"/>
          <p:cNvSpPr/>
          <p:nvPr/>
        </p:nvSpPr>
        <p:spPr>
          <a:xfrm>
            <a:off x="518815" y="1610841"/>
            <a:ext cx="2060302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📊</a:t>
            </a: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Interactive BI Reporting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18815" y="1856556"/>
            <a:ext cx="467737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Real-time, filterable dashboards for decision-makers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04589" y="2139255"/>
            <a:ext cx="4905821" cy="642640"/>
          </a:xfrm>
          <a:prstGeom prst="rect">
            <a:avLst/>
          </a:prstGeom>
          <a:solidFill>
            <a:srgbClr val="F9D2D6"/>
          </a:solidFill>
          <a:ln/>
        </p:spPr>
      </p:sp>
      <p:sp>
        <p:nvSpPr>
          <p:cNvPr id="10" name="Shape 7"/>
          <p:cNvSpPr/>
          <p:nvPr/>
        </p:nvSpPr>
        <p:spPr>
          <a:xfrm>
            <a:off x="404589" y="2139255"/>
            <a:ext cx="4905821" cy="14288"/>
          </a:xfrm>
          <a:prstGeom prst="roundRect">
            <a:avLst>
              <a:gd name="adj" fmla="val 335857"/>
            </a:avLst>
          </a:prstGeom>
          <a:solidFill>
            <a:srgbClr val="DFB8BC"/>
          </a:solidFill>
          <a:ln/>
        </p:spPr>
      </p:sp>
      <p:sp>
        <p:nvSpPr>
          <p:cNvPr id="11" name="Text 8"/>
          <p:cNvSpPr/>
          <p:nvPr/>
        </p:nvSpPr>
        <p:spPr>
          <a:xfrm>
            <a:off x="518815" y="2253481"/>
            <a:ext cx="2400598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💡</a:t>
            </a: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Sales &amp; Profitability Analysis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8815" y="2499196"/>
            <a:ext cx="467737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Deep-dive into margins, trends, and segments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04589" y="2781895"/>
            <a:ext cx="4905821" cy="642640"/>
          </a:xfrm>
          <a:prstGeom prst="rect">
            <a:avLst/>
          </a:prstGeom>
          <a:solidFill>
            <a:srgbClr val="F9D2D6"/>
          </a:solidFill>
          <a:ln/>
        </p:spPr>
      </p:sp>
      <p:sp>
        <p:nvSpPr>
          <p:cNvPr id="14" name="Shape 11"/>
          <p:cNvSpPr/>
          <p:nvPr/>
        </p:nvSpPr>
        <p:spPr>
          <a:xfrm>
            <a:off x="404589" y="2781895"/>
            <a:ext cx="4905821" cy="14288"/>
          </a:xfrm>
          <a:prstGeom prst="roundRect">
            <a:avLst>
              <a:gd name="adj" fmla="val 335857"/>
            </a:avLst>
          </a:prstGeom>
          <a:solidFill>
            <a:srgbClr val="DFB8BC"/>
          </a:solidFill>
          <a:ln/>
        </p:spPr>
      </p:sp>
      <p:sp>
        <p:nvSpPr>
          <p:cNvPr id="15" name="Text 12"/>
          <p:cNvSpPr/>
          <p:nvPr/>
        </p:nvSpPr>
        <p:spPr>
          <a:xfrm>
            <a:off x="518815" y="2896121"/>
            <a:ext cx="2128093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🎯</a:t>
            </a: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Strategic KPI Monitoring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8815" y="3141836"/>
            <a:ext cx="467737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Executive-ready metrics at a glance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04589" y="3424535"/>
            <a:ext cx="4905821" cy="642640"/>
          </a:xfrm>
          <a:prstGeom prst="rect">
            <a:avLst/>
          </a:prstGeom>
          <a:solidFill>
            <a:srgbClr val="F9D2D6"/>
          </a:solidFill>
          <a:ln/>
        </p:spPr>
      </p:sp>
      <p:sp>
        <p:nvSpPr>
          <p:cNvPr id="18" name="Shape 15"/>
          <p:cNvSpPr/>
          <p:nvPr/>
        </p:nvSpPr>
        <p:spPr>
          <a:xfrm>
            <a:off x="404589" y="3424535"/>
            <a:ext cx="4905821" cy="14288"/>
          </a:xfrm>
          <a:prstGeom prst="roundRect">
            <a:avLst>
              <a:gd name="adj" fmla="val 335857"/>
            </a:avLst>
          </a:prstGeom>
          <a:solidFill>
            <a:srgbClr val="DFB8BC"/>
          </a:solidFill>
          <a:ln/>
        </p:spPr>
      </p:sp>
      <p:sp>
        <p:nvSpPr>
          <p:cNvPr id="19" name="Text 16"/>
          <p:cNvSpPr/>
          <p:nvPr/>
        </p:nvSpPr>
        <p:spPr>
          <a:xfrm>
            <a:off x="518815" y="3538761"/>
            <a:ext cx="2390552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🏆</a:t>
            </a:r>
            <a:r>
              <a:rPr lang="en-US" sz="11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 Professional Tableau Design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8815" y="3784476"/>
            <a:ext cx="467737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Polished, recruiter-friendly portfolio piece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99827" y="4180359"/>
            <a:ext cx="4915346" cy="605582"/>
          </a:xfrm>
          <a:prstGeom prst="roundRect">
            <a:avLst>
              <a:gd name="adj" fmla="val 7924"/>
            </a:avLst>
          </a:prstGeom>
          <a:solidFill>
            <a:srgbClr val="B6FCB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52" y="4342135"/>
            <a:ext cx="142801" cy="11422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71079" y="4305226"/>
            <a:ext cx="4429869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reflects strong analytical thinking and the ability to translate data into business value.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Sora SemiBold</vt:lpstr>
      <vt:lpstr>Arial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tanvitha juvvadi</dc:creator>
  <cp:lastModifiedBy>tanvitha juvvadi</cp:lastModifiedBy>
  <cp:revision>2</cp:revision>
  <dcterms:created xsi:type="dcterms:W3CDTF">2026-05-28T06:48:41Z</dcterms:created>
  <dcterms:modified xsi:type="dcterms:W3CDTF">2026-05-28T06:49:57Z</dcterms:modified>
</cp:coreProperties>
</file>